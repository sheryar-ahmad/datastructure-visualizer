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261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.png"/><Relationship Id="rId7" Type="http://schemas.openxmlformats.org/officeDocument/2006/relationships/slide" Target="slide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2.xml"/><Relationship Id="rId4" Type="http://schemas.openxmlformats.org/officeDocument/2006/relationships/slide" Target="slide6.xml"/><Relationship Id="rId9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slide" Target="slide1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2.png"/><Relationship Id="rId7" Type="http://schemas.openxmlformats.org/officeDocument/2006/relationships/slide" Target="slide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4.xml"/><Relationship Id="rId4" Type="http://schemas.openxmlformats.org/officeDocument/2006/relationships/slide" Target="slide6.xml"/><Relationship Id="rId9" Type="http://schemas.openxmlformats.org/officeDocument/2006/relationships/slide" Target="slide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11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1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3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4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1063498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10634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 Visualizer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Java Swing learning tool for understanding data structures visually.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visual screens for DSA topics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operations with instant graphics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interface for demos and viva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4315968"/>
            <a:ext cx="15697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0F1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" y="4425696"/>
            <a:ext cx="1569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C8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66928" y="4864608"/>
            <a:ext cx="1569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319528" y="4315968"/>
            <a:ext cx="15697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0F1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319528" y="4425696"/>
            <a:ext cx="1569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C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319528" y="4864608"/>
            <a:ext cx="1569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072128" y="4315968"/>
            <a:ext cx="15697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0F1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072128" y="4425696"/>
            <a:ext cx="1569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4072128" y="4864608"/>
            <a:ext cx="1569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" y="5248656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" y="5559552"/>
            <a:ext cx="1630680" cy="73152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32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5650992"/>
            <a:ext cx="1484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Sheheryar Ahmad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" y="5998464"/>
            <a:ext cx="14843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9048" y="5559552"/>
            <a:ext cx="1630680" cy="73152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324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362200" y="5650992"/>
            <a:ext cx="1484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Hammad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362200" y="5998464"/>
            <a:ext cx="14843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011168" y="5559552"/>
            <a:ext cx="1630680" cy="731520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3241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084320" y="5650992"/>
            <a:ext cx="1484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Tamjeed Ur Rehman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084320" y="5998464"/>
            <a:ext cx="14843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53796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53796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418070" y="1426464"/>
            <a:ext cx="1266444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418070" y="1426464"/>
            <a:ext cx="12664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794242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794242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674352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9674352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10554462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0554462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537960" y="1837944"/>
            <a:ext cx="1183767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537960" y="1837944"/>
            <a:ext cx="11837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537960" y="2350008"/>
            <a:ext cx="4800600" cy="335584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739128" y="247802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 Topic Grid</a:t>
            </a:r>
            <a:endParaRPr lang="en-US" sz="1300" dirty="0"/>
          </a:p>
        </p:txBody>
      </p:sp>
      <p:sp>
        <p:nvSpPr>
          <p:cNvPr id="52" name="Shape 49">
            <a:hlinkClick r:id="rId4" action="ppaction://hlinksldjump"/>
          </p:cNvPr>
          <p:cNvSpPr/>
          <p:nvPr/>
        </p:nvSpPr>
        <p:spPr>
          <a:xfrm>
            <a:off x="6583680" y="2807208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>
            <a:hlinkClick r:id="rId4" action="ppaction://hlinksldjump"/>
          </p:cNvPr>
          <p:cNvSpPr/>
          <p:nvPr/>
        </p:nvSpPr>
        <p:spPr>
          <a:xfrm>
            <a:off x="6583680" y="2807208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ARRAYS</a:t>
            </a:r>
            <a:endParaRPr lang="en-US" sz="1250" dirty="0"/>
          </a:p>
        </p:txBody>
      </p:sp>
      <p:sp>
        <p:nvSpPr>
          <p:cNvPr id="54" name="Shape 51">
            <a:hlinkClick r:id="rId5" action="ppaction://hlinksldjump"/>
          </p:cNvPr>
          <p:cNvSpPr/>
          <p:nvPr/>
        </p:nvSpPr>
        <p:spPr>
          <a:xfrm>
            <a:off x="9020556" y="2807208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>
            <a:hlinkClick r:id="rId5" action="ppaction://hlinksldjump"/>
          </p:cNvPr>
          <p:cNvSpPr/>
          <p:nvPr/>
        </p:nvSpPr>
        <p:spPr>
          <a:xfrm>
            <a:off x="9020556" y="2807208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 LISTS</a:t>
            </a:r>
            <a:endParaRPr lang="en-US" sz="1250" dirty="0"/>
          </a:p>
        </p:txBody>
      </p:sp>
      <p:sp>
        <p:nvSpPr>
          <p:cNvPr id="56" name="Shape 53">
            <a:hlinkClick r:id="rId6" action="ppaction://hlinksldjump"/>
          </p:cNvPr>
          <p:cNvSpPr/>
          <p:nvPr/>
        </p:nvSpPr>
        <p:spPr>
          <a:xfrm>
            <a:off x="6583680" y="3648456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>
            <a:hlinkClick r:id="rId6" action="ppaction://hlinksldjump"/>
          </p:cNvPr>
          <p:cNvSpPr/>
          <p:nvPr/>
        </p:nvSpPr>
        <p:spPr>
          <a:xfrm>
            <a:off x="6583680" y="3648456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STACKS</a:t>
            </a:r>
            <a:endParaRPr lang="en-US" sz="1250" dirty="0"/>
          </a:p>
        </p:txBody>
      </p:sp>
      <p:sp>
        <p:nvSpPr>
          <p:cNvPr id="58" name="Shape 55">
            <a:hlinkClick r:id="rId7" action="ppaction://hlinksldjump"/>
          </p:cNvPr>
          <p:cNvSpPr/>
          <p:nvPr/>
        </p:nvSpPr>
        <p:spPr>
          <a:xfrm>
            <a:off x="9020556" y="3648456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>
            <a:hlinkClick r:id="rId7" action="ppaction://hlinksldjump"/>
          </p:cNvPr>
          <p:cNvSpPr/>
          <p:nvPr/>
        </p:nvSpPr>
        <p:spPr>
          <a:xfrm>
            <a:off x="9020556" y="3648456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QUEUES</a:t>
            </a:r>
            <a:endParaRPr lang="en-US" sz="1250" dirty="0"/>
          </a:p>
        </p:txBody>
      </p:sp>
      <p:sp>
        <p:nvSpPr>
          <p:cNvPr id="60" name="Shape 57">
            <a:hlinkClick r:id="rId8" action="ppaction://hlinksldjump"/>
          </p:cNvPr>
          <p:cNvSpPr/>
          <p:nvPr/>
        </p:nvSpPr>
        <p:spPr>
          <a:xfrm>
            <a:off x="6583680" y="4489704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>
            <a:hlinkClick r:id="rId8" action="ppaction://hlinksldjump"/>
          </p:cNvPr>
          <p:cNvSpPr/>
          <p:nvPr/>
        </p:nvSpPr>
        <p:spPr>
          <a:xfrm>
            <a:off x="6583680" y="4489704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TREES</a:t>
            </a:r>
            <a:endParaRPr lang="en-US" sz="1250" dirty="0"/>
          </a:p>
        </p:txBody>
      </p:sp>
      <p:sp>
        <p:nvSpPr>
          <p:cNvPr id="62" name="Shape 59">
            <a:hlinkClick r:id="rId9" action="ppaction://hlinksldjump"/>
          </p:cNvPr>
          <p:cNvSpPr/>
          <p:nvPr/>
        </p:nvSpPr>
        <p:spPr>
          <a:xfrm>
            <a:off x="9020556" y="4489704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>
            <a:hlinkClick r:id="rId9" action="ppaction://hlinksldjump"/>
          </p:cNvPr>
          <p:cNvSpPr/>
          <p:nvPr/>
        </p:nvSpPr>
        <p:spPr>
          <a:xfrm>
            <a:off x="9020556" y="4489704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CONVERSIONS</a:t>
            </a:r>
            <a:endParaRPr lang="en-US" sz="1250" dirty="0"/>
          </a:p>
        </p:txBody>
      </p:sp>
      <p:sp>
        <p:nvSpPr>
          <p:cNvPr id="64" name="Shape 61">
            <a:hlinkClick r:id="rId10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>
            <a:hlinkClick r:id="rId10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03656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03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DSA concepts easy to see, click, and explain.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theory into visual memory diagrams.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each operation step by step.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students learn without confusion.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1807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1807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9818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9818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178290" y="1426464"/>
            <a:ext cx="935736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178290" y="1426464"/>
            <a:ext cx="935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537960" y="1938528"/>
            <a:ext cx="480060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39128" y="206654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Singly Linked List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39128" y="23408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739128" y="3913632"/>
            <a:ext cx="256032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995160" y="3675888"/>
            <a:ext cx="402336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95160" y="367588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397496" y="3675888"/>
            <a:ext cx="292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397496" y="367588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690104" y="3913632"/>
            <a:ext cx="237744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927848" y="3675888"/>
            <a:ext cx="402336" cy="475488"/>
          </a:xfrm>
          <a:prstGeom prst="rect">
            <a:avLst/>
          </a:prstGeom>
          <a:solidFill>
            <a:srgbClr val="F2C14E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927848" y="367588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330184" y="3675888"/>
            <a:ext cx="292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330184" y="367588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8622792" y="3913632"/>
            <a:ext cx="237744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860536" y="3675888"/>
            <a:ext cx="402336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860536" y="367588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262872" y="3675888"/>
            <a:ext cx="292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9262872" y="367588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9555480" y="3913632"/>
            <a:ext cx="237744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9793224" y="3675888"/>
            <a:ext cx="402336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9793224" y="367588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10195560" y="3675888"/>
            <a:ext cx="292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0195560" y="367588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10488168" y="3913632"/>
            <a:ext cx="237744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725912" y="367588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100" dirty="0"/>
          </a:p>
        </p:txBody>
      </p:sp>
      <p:sp>
        <p:nvSpPr>
          <p:cNvPr id="52" name="Shape 49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kern="0" spc="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1000" dirty="0"/>
          </a:p>
        </p:txBody>
      </p:sp>
      <p:sp>
        <p:nvSpPr>
          <p:cNvPr id="54" name="Shape 51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56" name="Shape 53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03656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03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App Works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flow connects user input, logic, drawing, and result.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a value or expression.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performs the data structure operation.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panel redraws the updated structure.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APP WORKS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35393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35393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32826" y="142646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132826" y="142646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847582" y="1426464"/>
            <a:ext cx="522351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847582" y="1426464"/>
            <a:ext cx="5223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537960" y="1938528"/>
            <a:ext cx="480060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39128" y="206654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Dimensional Array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716268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716268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716268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[0]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283196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283196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283196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850124" y="3547872"/>
            <a:ext cx="475488" cy="475488"/>
          </a:xfrm>
          <a:prstGeom prst="rect">
            <a:avLst/>
          </a:prstGeom>
          <a:solidFill>
            <a:srgbClr val="F2C14E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850124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850124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417052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417052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417052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983980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983980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983980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550908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9550908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9550908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0117836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0117836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10117836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0684764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684764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10684764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900" dirty="0"/>
          </a:p>
        </p:txBody>
      </p:sp>
      <p:sp>
        <p:nvSpPr>
          <p:cNvPr id="53" name="Shape 50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kern="0" spc="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1000" dirty="0"/>
          </a:p>
        </p:txBody>
      </p:sp>
      <p:sp>
        <p:nvSpPr>
          <p:cNvPr id="55" name="Shape 52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57" name="Shape 54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66928" y="4315968"/>
            <a:ext cx="856488" cy="457200"/>
          </a:xfrm>
          <a:prstGeom prst="roundRect">
            <a:avLst>
              <a:gd name="adj" fmla="val 18000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66928" y="4315968"/>
            <a:ext cx="856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1478280" y="4544568"/>
            <a:ext cx="201168" cy="0"/>
          </a:xfrm>
          <a:prstGeom prst="line">
            <a:avLst/>
          </a:prstGeom>
          <a:noFill/>
          <a:ln w="19050">
            <a:solidFill>
              <a:srgbClr val="9CA9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1752600" y="4315968"/>
            <a:ext cx="1234440" cy="457200"/>
          </a:xfrm>
          <a:prstGeom prst="roundRect">
            <a:avLst>
              <a:gd name="adj" fmla="val 18000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1752600" y="43159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3041904" y="4544568"/>
            <a:ext cx="201168" cy="0"/>
          </a:xfrm>
          <a:prstGeom prst="line">
            <a:avLst/>
          </a:prstGeom>
          <a:noFill/>
          <a:ln w="19050">
            <a:solidFill>
              <a:srgbClr val="9CA9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3316224" y="4315968"/>
            <a:ext cx="762000" cy="457200"/>
          </a:xfrm>
          <a:prstGeom prst="roundRect">
            <a:avLst>
              <a:gd name="adj" fmla="val 18000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3316224" y="4315968"/>
            <a:ext cx="76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4133088" y="4544568"/>
            <a:ext cx="201168" cy="0"/>
          </a:xfrm>
          <a:prstGeom prst="line">
            <a:avLst/>
          </a:prstGeom>
          <a:noFill/>
          <a:ln w="19050">
            <a:solidFill>
              <a:srgbClr val="9CA9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4407408" y="4315968"/>
            <a:ext cx="667512" cy="457200"/>
          </a:xfrm>
          <a:prstGeom prst="roundRect">
            <a:avLst>
              <a:gd name="adj" fmla="val 18000"/>
            </a:avLst>
          </a:prstGeom>
          <a:solidFill>
            <a:srgbClr val="5FA8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4407408" y="4315968"/>
            <a:ext cx="667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03656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03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uses lightweight desktop technology.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is used for all program logic.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 builds windows, buttons, labels, and panels.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paintComponent draws nodes, arrows, boxes, and trees.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252716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52716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050149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50149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JFrame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30259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930259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JPanel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537960" y="1938528"/>
            <a:ext cx="480060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39128" y="206654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Dimensional Array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716268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716268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716268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[0]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283196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283196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283196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850124" y="3547872"/>
            <a:ext cx="475488" cy="475488"/>
          </a:xfrm>
          <a:prstGeom prst="rect">
            <a:avLst/>
          </a:prstGeom>
          <a:solidFill>
            <a:srgbClr val="F2C14E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850124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850124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417052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417052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417052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983980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983980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983980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550908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9550908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9550908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0117836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0117836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10117836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0684764" y="354787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684764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10684764" y="405993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900" dirty="0"/>
          </a:p>
        </p:txBody>
      </p:sp>
      <p:sp>
        <p:nvSpPr>
          <p:cNvPr id="53" name="Shape 50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kern="0" spc="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1000" dirty="0"/>
          </a:p>
        </p:txBody>
      </p:sp>
      <p:sp>
        <p:nvSpPr>
          <p:cNvPr id="55" name="Shape 52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57" name="Shape 54">
            <a:hlinkClick r:id="rId4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>
            <a:hlinkClick r:id="rId4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66928" y="4315968"/>
            <a:ext cx="15697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0F1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66928" y="4425696"/>
            <a:ext cx="1569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</a:t>
            </a:r>
            <a:endParaRPr lang="en-US" sz="2100" dirty="0"/>
          </a:p>
        </p:txBody>
      </p:sp>
      <p:sp>
        <p:nvSpPr>
          <p:cNvPr id="62" name="Text 59"/>
          <p:cNvSpPr/>
          <p:nvPr/>
        </p:nvSpPr>
        <p:spPr>
          <a:xfrm>
            <a:off x="566928" y="4864608"/>
            <a:ext cx="1569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319528" y="4315968"/>
            <a:ext cx="15697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0F1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2319528" y="4425696"/>
            <a:ext cx="1569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C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</a:t>
            </a:r>
            <a:endParaRPr lang="en-US" sz="2100" dirty="0"/>
          </a:p>
        </p:txBody>
      </p:sp>
      <p:sp>
        <p:nvSpPr>
          <p:cNvPr id="65" name="Text 62"/>
          <p:cNvSpPr/>
          <p:nvPr/>
        </p:nvSpPr>
        <p:spPr>
          <a:xfrm>
            <a:off x="2319528" y="4864608"/>
            <a:ext cx="1569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072128" y="4315968"/>
            <a:ext cx="15697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0F1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4072128" y="4425696"/>
            <a:ext cx="1569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2100" dirty="0"/>
          </a:p>
        </p:txBody>
      </p:sp>
      <p:sp>
        <p:nvSpPr>
          <p:cNvPr id="68" name="Text 65"/>
          <p:cNvSpPr/>
          <p:nvPr/>
        </p:nvSpPr>
        <p:spPr>
          <a:xfrm>
            <a:off x="4072128" y="4864608"/>
            <a:ext cx="1569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03656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03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menu is the control center of the project.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topic starts from one screen.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colors are consistent by section.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stays simple for users.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 — tap a topic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18070" y="1426464"/>
            <a:ext cx="1266444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18070" y="1426464"/>
            <a:ext cx="12664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794242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94242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674352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674352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554462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554462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537960" y="1837944"/>
            <a:ext cx="1183767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537960" y="1837944"/>
            <a:ext cx="11837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37960" y="2350008"/>
            <a:ext cx="4800600" cy="335584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39128" y="247802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 Topic Grid  —  click to jump</a:t>
            </a:r>
            <a:endParaRPr lang="en-US" sz="1300" dirty="0"/>
          </a:p>
        </p:txBody>
      </p:sp>
      <p:sp>
        <p:nvSpPr>
          <p:cNvPr id="33" name="Shape 30">
            <a:hlinkClick r:id="rId4" action="ppaction://hlinksldjump"/>
          </p:cNvPr>
          <p:cNvSpPr/>
          <p:nvPr/>
        </p:nvSpPr>
        <p:spPr>
          <a:xfrm>
            <a:off x="6583680" y="2807208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hlinkClick r:id="rId4" action="ppaction://hlinksldjump"/>
          </p:cNvPr>
          <p:cNvSpPr/>
          <p:nvPr/>
        </p:nvSpPr>
        <p:spPr>
          <a:xfrm>
            <a:off x="6583680" y="2807208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ARRAYS</a:t>
            </a:r>
            <a:endParaRPr lang="en-US" sz="1250" dirty="0"/>
          </a:p>
        </p:txBody>
      </p:sp>
      <p:sp>
        <p:nvSpPr>
          <p:cNvPr id="35" name="Shape 32">
            <a:hlinkClick r:id="rId5" action="ppaction://hlinksldjump"/>
          </p:cNvPr>
          <p:cNvSpPr/>
          <p:nvPr/>
        </p:nvSpPr>
        <p:spPr>
          <a:xfrm>
            <a:off x="9020556" y="2807208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>
            <a:hlinkClick r:id="rId5" action="ppaction://hlinksldjump"/>
          </p:cNvPr>
          <p:cNvSpPr/>
          <p:nvPr/>
        </p:nvSpPr>
        <p:spPr>
          <a:xfrm>
            <a:off x="9020556" y="2807208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 LISTS</a:t>
            </a:r>
            <a:endParaRPr lang="en-US" sz="1250" dirty="0"/>
          </a:p>
        </p:txBody>
      </p:sp>
      <p:sp>
        <p:nvSpPr>
          <p:cNvPr id="37" name="Shape 34">
            <a:hlinkClick r:id="rId6" action="ppaction://hlinksldjump"/>
          </p:cNvPr>
          <p:cNvSpPr/>
          <p:nvPr/>
        </p:nvSpPr>
        <p:spPr>
          <a:xfrm>
            <a:off x="6583680" y="3648456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>
            <a:hlinkClick r:id="rId6" action="ppaction://hlinksldjump"/>
          </p:cNvPr>
          <p:cNvSpPr/>
          <p:nvPr/>
        </p:nvSpPr>
        <p:spPr>
          <a:xfrm>
            <a:off x="6583680" y="3648456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STACKS</a:t>
            </a:r>
            <a:endParaRPr lang="en-US" sz="1250" dirty="0"/>
          </a:p>
        </p:txBody>
      </p:sp>
      <p:sp>
        <p:nvSpPr>
          <p:cNvPr id="39" name="Shape 36">
            <a:hlinkClick r:id="rId7" action="ppaction://hlinksldjump"/>
          </p:cNvPr>
          <p:cNvSpPr/>
          <p:nvPr/>
        </p:nvSpPr>
        <p:spPr>
          <a:xfrm>
            <a:off x="9020556" y="3648456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hlinkClick r:id="rId7" action="ppaction://hlinksldjump"/>
          </p:cNvPr>
          <p:cNvSpPr/>
          <p:nvPr/>
        </p:nvSpPr>
        <p:spPr>
          <a:xfrm>
            <a:off x="9020556" y="3648456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QUEUES</a:t>
            </a:r>
            <a:endParaRPr lang="en-US" sz="1250" dirty="0"/>
          </a:p>
        </p:txBody>
      </p:sp>
      <p:sp>
        <p:nvSpPr>
          <p:cNvPr id="41" name="Shape 38">
            <a:hlinkClick r:id="rId8" action="ppaction://hlinksldjump"/>
          </p:cNvPr>
          <p:cNvSpPr/>
          <p:nvPr/>
        </p:nvSpPr>
        <p:spPr>
          <a:xfrm>
            <a:off x="6583680" y="4489704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>
            <a:hlinkClick r:id="rId8" action="ppaction://hlinksldjump"/>
          </p:cNvPr>
          <p:cNvSpPr/>
          <p:nvPr/>
        </p:nvSpPr>
        <p:spPr>
          <a:xfrm>
            <a:off x="6583680" y="4489704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TREES</a:t>
            </a:r>
            <a:endParaRPr lang="en-US" sz="1250" dirty="0"/>
          </a:p>
        </p:txBody>
      </p:sp>
      <p:sp>
        <p:nvSpPr>
          <p:cNvPr id="43" name="Shape 40">
            <a:hlinkClick r:id="rId9" action="ppaction://hlinksldjump"/>
          </p:cNvPr>
          <p:cNvSpPr/>
          <p:nvPr/>
        </p:nvSpPr>
        <p:spPr>
          <a:xfrm>
            <a:off x="9020556" y="4489704"/>
            <a:ext cx="2272284" cy="694944"/>
          </a:xfrm>
          <a:prstGeom prst="roundRect">
            <a:avLst>
              <a:gd name="adj" fmla="val 11842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>
            <a:hlinkClick r:id="rId9" action="ppaction://hlinksldjump"/>
          </p:cNvPr>
          <p:cNvSpPr/>
          <p:nvPr/>
        </p:nvSpPr>
        <p:spPr>
          <a:xfrm>
            <a:off x="9020556" y="4489704"/>
            <a:ext cx="22722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CONVERSIONS</a:t>
            </a:r>
            <a:endParaRPr lang="en-US" sz="1250" dirty="0"/>
          </a:p>
        </p:txBody>
      </p:sp>
      <p:sp>
        <p:nvSpPr>
          <p:cNvPr id="45" name="Shape 42">
            <a:hlinkClick r:id="rId10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>
            <a:hlinkClick r:id="rId10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47" name="Shape 44">
            <a:hlinkClick r:id="rId4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>
            <a:hlinkClick r:id="rId4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90270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902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Visualizer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are shown as indexed memory boxes.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and update place values at indexes.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highlights the matched cell.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labels make access easy to understand.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VISUALIZER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1807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1807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9818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9818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17829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17829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058400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058400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50" dirty="0"/>
          </a:p>
        </p:txBody>
      </p:sp>
      <p:sp>
        <p:nvSpPr>
          <p:cNvPr id="27" name="Shape 24">
            <a:hlinkClick r:id="rId4" action="ppaction://hlinksldjump"/>
          </p:cNvPr>
          <p:cNvSpPr/>
          <p:nvPr/>
        </p:nvSpPr>
        <p:spPr>
          <a:xfrm>
            <a:off x="6537960" y="183794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899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hlinkClick r:id="rId4" action="ppaction://hlinksldjump"/>
          </p:cNvPr>
          <p:cNvSpPr/>
          <p:nvPr/>
        </p:nvSpPr>
        <p:spPr>
          <a:xfrm>
            <a:off x="6537960" y="183794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37960" y="2350008"/>
            <a:ext cx="4800600" cy="335584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39128" y="247802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Dimensional Array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716268" y="375361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716268" y="3753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716268" y="426567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[0]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283196" y="375361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83196" y="3753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283196" y="426567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850124" y="3753612"/>
            <a:ext cx="475488" cy="475488"/>
          </a:xfrm>
          <a:prstGeom prst="rect">
            <a:avLst/>
          </a:prstGeom>
          <a:solidFill>
            <a:srgbClr val="F2C14E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850124" y="3753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850124" y="426567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417052" y="375361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417052" y="3753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417052" y="426567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983980" y="375361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983980" y="3753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8983980" y="426567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550908" y="375361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9550908" y="3753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9550908" y="426567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0117836" y="375361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0117836" y="3753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10117836" y="426567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0684764" y="3753612"/>
            <a:ext cx="475488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0684764" y="3753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10684764" y="426567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900" dirty="0"/>
          </a:p>
        </p:txBody>
      </p:sp>
      <p:sp>
        <p:nvSpPr>
          <p:cNvPr id="57" name="Shape 54">
            <a:hlinkClick r:id="rId4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>
            <a:hlinkClick r:id="rId4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59" name="Shape 56">
            <a:hlinkClick r:id="rId5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>
            <a:hlinkClick r:id="rId5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90270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902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 Visualizer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lists are shown using nodes and next links.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points to the first node.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node has data and next parts.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 follows the arrows to NULL.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LIST VISUALIZER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1266444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12664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Start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14132" y="1426464"/>
            <a:ext cx="1101090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914132" y="1426464"/>
            <a:ext cx="11010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End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124950" y="1426464"/>
            <a:ext cx="1266444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24950" y="1426464"/>
            <a:ext cx="12664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First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37960" y="1837944"/>
            <a:ext cx="1183767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537960" y="1837944"/>
            <a:ext cx="11837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Last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831455" y="183794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831455" y="183794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711565" y="1837944"/>
            <a:ext cx="935736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711565" y="1837944"/>
            <a:ext cx="935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757029" y="183794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757029" y="183794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50" dirty="0"/>
          </a:p>
        </p:txBody>
      </p:sp>
      <p:sp>
        <p:nvSpPr>
          <p:cNvPr id="31" name="Shape 28">
            <a:hlinkClick r:id="rId4" action="ppaction://hlinksldjump"/>
          </p:cNvPr>
          <p:cNvSpPr/>
          <p:nvPr/>
        </p:nvSpPr>
        <p:spPr>
          <a:xfrm>
            <a:off x="10554462" y="183794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899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>
            <a:hlinkClick r:id="rId4" action="ppaction://hlinksldjump"/>
          </p:cNvPr>
          <p:cNvSpPr/>
          <p:nvPr/>
        </p:nvSpPr>
        <p:spPr>
          <a:xfrm>
            <a:off x="10554462" y="183794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537960" y="2350008"/>
            <a:ext cx="4800600" cy="335584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39128" y="247802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Singly Linked List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39128" y="27523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739128" y="4119372"/>
            <a:ext cx="256032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995160" y="3881628"/>
            <a:ext cx="402336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995160" y="388162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7397496" y="3881628"/>
            <a:ext cx="292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397496" y="388162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690104" y="4119372"/>
            <a:ext cx="237744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927848" y="3881628"/>
            <a:ext cx="402336" cy="475488"/>
          </a:xfrm>
          <a:prstGeom prst="rect">
            <a:avLst/>
          </a:prstGeom>
          <a:solidFill>
            <a:srgbClr val="F2C14E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927848" y="388162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8330184" y="3881628"/>
            <a:ext cx="292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330184" y="388162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622792" y="4119372"/>
            <a:ext cx="237744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860536" y="3881628"/>
            <a:ext cx="402336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8860536" y="388162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9262872" y="3881628"/>
            <a:ext cx="292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9262872" y="388162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9555480" y="4119372"/>
            <a:ext cx="237744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9793224" y="3881628"/>
            <a:ext cx="402336" cy="475488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9793224" y="3881628"/>
            <a:ext cx="40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10195560" y="3881628"/>
            <a:ext cx="2926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0195560" y="3881628"/>
            <a:ext cx="292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10488168" y="4119372"/>
            <a:ext cx="237744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10725912" y="388162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100" dirty="0"/>
          </a:p>
        </p:txBody>
      </p:sp>
      <p:sp>
        <p:nvSpPr>
          <p:cNvPr id="60" name="Shape 57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62" name="Shape 59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90270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902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Visualizer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explain Last In First Out behavior.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adds a value at TOP.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removes the top value first.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Peek shows the top without removing it.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VISUALIZER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252716" y="1426464"/>
            <a:ext cx="522351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52716" y="1426464"/>
            <a:ext cx="5223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84795" y="142646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884795" y="142646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599551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599551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396984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396984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50" dirty="0"/>
          </a:p>
        </p:txBody>
      </p:sp>
      <p:sp>
        <p:nvSpPr>
          <p:cNvPr id="27" name="Shape 24">
            <a:hlinkClick r:id="rId4" action="ppaction://hlinksldjump"/>
          </p:cNvPr>
          <p:cNvSpPr/>
          <p:nvPr/>
        </p:nvSpPr>
        <p:spPr>
          <a:xfrm>
            <a:off x="10194417" y="142646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899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hlinkClick r:id="rId4" action="ppaction://hlinksldjump"/>
          </p:cNvPr>
          <p:cNvSpPr/>
          <p:nvPr/>
        </p:nvSpPr>
        <p:spPr>
          <a:xfrm>
            <a:off x="10194417" y="142646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37960" y="1938528"/>
            <a:ext cx="480060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39128" y="206654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(LIFO)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932420" y="2889504"/>
            <a:ext cx="1371600" cy="457200"/>
          </a:xfrm>
          <a:prstGeom prst="rect">
            <a:avLst/>
          </a:prstGeom>
          <a:solidFill>
            <a:srgbClr val="F2C14E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932420" y="288950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304020" y="3118104"/>
            <a:ext cx="201168" cy="0"/>
          </a:xfrm>
          <a:prstGeom prst="line">
            <a:avLst/>
          </a:prstGeom>
          <a:noFill/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523476" y="28895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932420" y="3419856"/>
            <a:ext cx="1371600" cy="457200"/>
          </a:xfrm>
          <a:prstGeom prst="rect">
            <a:avLst/>
          </a:prstGeom>
          <a:solidFill>
            <a:srgbClr val="E7EEF5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932420" y="3419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932420" y="3950208"/>
            <a:ext cx="1371600" cy="457200"/>
          </a:xfrm>
          <a:prstGeom prst="rect">
            <a:avLst/>
          </a:prstGeom>
          <a:solidFill>
            <a:srgbClr val="E7EEF5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932420" y="3950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932420" y="4480560"/>
            <a:ext cx="1371600" cy="457200"/>
          </a:xfrm>
          <a:prstGeom prst="rect">
            <a:avLst/>
          </a:prstGeom>
          <a:solidFill>
            <a:srgbClr val="E7EEF5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93242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Shape 40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45" name="Shape 42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90270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902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Visualizer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 explain First In First Out behavior.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Enqueue adds data at REAR.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Dequeue removes data from FRONT.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and REAR make movement clear.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VISUALIZER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853059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8530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Enqueue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00747" y="1426464"/>
            <a:ext cx="853059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00747" y="1426464"/>
            <a:ext cx="8530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Dequeue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63534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463534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260967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260967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058400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058400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50" dirty="0"/>
          </a:p>
        </p:txBody>
      </p:sp>
      <p:sp>
        <p:nvSpPr>
          <p:cNvPr id="27" name="Shape 24">
            <a:hlinkClick r:id="rId4" action="ppaction://hlinksldjump"/>
          </p:cNvPr>
          <p:cNvSpPr/>
          <p:nvPr/>
        </p:nvSpPr>
        <p:spPr>
          <a:xfrm>
            <a:off x="6537960" y="183794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899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hlinkClick r:id="rId4" action="ppaction://hlinksldjump"/>
          </p:cNvPr>
          <p:cNvSpPr/>
          <p:nvPr/>
        </p:nvSpPr>
        <p:spPr>
          <a:xfrm>
            <a:off x="6537960" y="183794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37960" y="2350008"/>
            <a:ext cx="4800600" cy="335584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39128" y="247802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(FIFO)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292340" y="349758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429500" y="3790188"/>
            <a:ext cx="530352" cy="530352"/>
          </a:xfrm>
          <a:prstGeom prst="rect">
            <a:avLst/>
          </a:prstGeom>
          <a:solidFill>
            <a:srgbClr val="F2C14E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429500" y="37901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051292" y="3790188"/>
            <a:ext cx="530352" cy="530352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051292" y="37901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673084" y="3790188"/>
            <a:ext cx="530352" cy="530352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673084" y="37901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294876" y="3790188"/>
            <a:ext cx="530352" cy="530352"/>
          </a:xfrm>
          <a:prstGeom prst="rect">
            <a:avLst/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9294876" y="37901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9916668" y="3790188"/>
            <a:ext cx="530352" cy="530352"/>
          </a:xfrm>
          <a:prstGeom prst="rect">
            <a:avLst/>
          </a:prstGeom>
          <a:solidFill>
            <a:srgbClr val="F2C14E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9916668" y="37901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9642348" y="43936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</a:t>
            </a:r>
            <a:endParaRPr lang="en-US" sz="1050" dirty="0"/>
          </a:p>
        </p:txBody>
      </p:sp>
      <p:sp>
        <p:nvSpPr>
          <p:cNvPr id="45" name="Shape 42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47" name="Shape 44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90270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902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Traversal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traversal shows the order of visiting nodes.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Inorder visits left, root, then right.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Preorder starts from the root.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Postorder visits root at the end.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TRAVERSAL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1183767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11837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Tree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831455" y="1426464"/>
            <a:ext cx="853059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31455" y="1426464"/>
            <a:ext cx="8530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Inorder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794242" y="1426464"/>
            <a:ext cx="935736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94242" y="1426464"/>
            <a:ext cx="935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Preorder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839706" y="1426464"/>
            <a:ext cx="1018413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839706" y="1426464"/>
            <a:ext cx="10184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Postorder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537960" y="183794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37960" y="183794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50" dirty="0"/>
          </a:p>
        </p:txBody>
      </p:sp>
      <p:sp>
        <p:nvSpPr>
          <p:cNvPr id="27" name="Shape 24">
            <a:hlinkClick r:id="rId4" action="ppaction://hlinksldjump"/>
          </p:cNvPr>
          <p:cNvSpPr/>
          <p:nvPr/>
        </p:nvSpPr>
        <p:spPr>
          <a:xfrm>
            <a:off x="7335393" y="183794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899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hlinkClick r:id="rId4" action="ppaction://hlinksldjump"/>
          </p:cNvPr>
          <p:cNvSpPr/>
          <p:nvPr/>
        </p:nvSpPr>
        <p:spPr>
          <a:xfrm>
            <a:off x="7335393" y="183794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37960" y="2350008"/>
            <a:ext cx="4800600" cy="335584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39128" y="247802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Tree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 flipH="1">
            <a:off x="7886700" y="2916936"/>
            <a:ext cx="1051560" cy="86868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938260" y="2916936"/>
            <a:ext cx="1051560" cy="86868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 flipH="1">
            <a:off x="7319772" y="3785616"/>
            <a:ext cx="566928" cy="7772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886700" y="3785616"/>
            <a:ext cx="566928" cy="7772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 flipH="1">
            <a:off x="9422892" y="3785616"/>
            <a:ext cx="566928" cy="7772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989820" y="3785616"/>
            <a:ext cx="566928" cy="7772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663940" y="2642616"/>
            <a:ext cx="548640" cy="548640"/>
          </a:xfrm>
          <a:prstGeom prst="ellipse">
            <a:avLst/>
          </a:prstGeom>
          <a:solidFill>
            <a:srgbClr val="F2C14E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663940" y="26426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612380" y="351129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612380" y="3511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9715500" y="351129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9715500" y="3511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045452" y="428853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045452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8179308" y="428853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179308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9148572" y="428853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9148572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10282428" y="428853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0282428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sp>
        <p:nvSpPr>
          <p:cNvPr id="53" name="Shape 50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55" name="Shape 52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90270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902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 And AVL Trees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screens show searching and balanced structure.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 places smaller values left and larger values right.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 keeps height balanced using rotations.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nodes show the active operation.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 AND AVL TREES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1807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1807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9818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9818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178290" y="1426464"/>
            <a:ext cx="853059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178290" y="1426464"/>
            <a:ext cx="8530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Inorder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141077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141077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50" dirty="0"/>
          </a:p>
        </p:txBody>
      </p:sp>
      <p:sp>
        <p:nvSpPr>
          <p:cNvPr id="27" name="Shape 24">
            <a:hlinkClick r:id="rId4" action="ppaction://hlinksldjump"/>
          </p:cNvPr>
          <p:cNvSpPr/>
          <p:nvPr/>
        </p:nvSpPr>
        <p:spPr>
          <a:xfrm>
            <a:off x="6537960" y="183794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899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hlinkClick r:id="rId4" action="ppaction://hlinksldjump"/>
          </p:cNvPr>
          <p:cNvSpPr/>
          <p:nvPr/>
        </p:nvSpPr>
        <p:spPr>
          <a:xfrm>
            <a:off x="6537960" y="183794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37960" y="2350008"/>
            <a:ext cx="4800600" cy="335584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39128" y="247802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Tree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 flipH="1">
            <a:off x="7886700" y="2916936"/>
            <a:ext cx="1051560" cy="86868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938260" y="2916936"/>
            <a:ext cx="1051560" cy="86868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 flipH="1">
            <a:off x="7319772" y="3785616"/>
            <a:ext cx="566928" cy="7772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886700" y="3785616"/>
            <a:ext cx="566928" cy="7772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 flipH="1">
            <a:off x="9422892" y="3785616"/>
            <a:ext cx="566928" cy="7772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989820" y="3785616"/>
            <a:ext cx="566928" cy="77724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663940" y="2642616"/>
            <a:ext cx="548640" cy="548640"/>
          </a:xfrm>
          <a:prstGeom prst="ellipse">
            <a:avLst/>
          </a:prstGeom>
          <a:solidFill>
            <a:srgbClr val="F2C14E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663940" y="26426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612380" y="351129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612380" y="3511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9715500" y="351129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9715500" y="3511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045452" y="428853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045452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8179308" y="428853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179308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9148572" y="428853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9148572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10282428" y="4288536"/>
            <a:ext cx="548640" cy="548640"/>
          </a:xfrm>
          <a:prstGeom prst="ellipse">
            <a:avLst/>
          </a:prstGeom>
          <a:solidFill>
            <a:srgbClr val="DCEAEA"/>
          </a:solidFill>
          <a:ln w="15875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0282428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sp>
        <p:nvSpPr>
          <p:cNvPr id="53" name="Shape 50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55" name="Shape 52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1063498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10634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Conversion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Infix expressions are converted using stack logic.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Operands go directly to output.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wait in the stack by precedence.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prefix or postfix result is shown clearly.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CONVERSION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853059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8530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00747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00747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50" dirty="0"/>
          </a:p>
        </p:txBody>
      </p:sp>
      <p:sp>
        <p:nvSpPr>
          <p:cNvPr id="21" name="Shape 18">
            <a:hlinkClick r:id="rId4" action="ppaction://hlinksldjump"/>
          </p:cNvPr>
          <p:cNvSpPr/>
          <p:nvPr/>
        </p:nvSpPr>
        <p:spPr>
          <a:xfrm>
            <a:off x="8298180" y="1426464"/>
            <a:ext cx="605028" cy="310896"/>
          </a:xfrm>
          <a:prstGeom prst="roundRect">
            <a:avLst>
              <a:gd name="adj" fmla="val 26471"/>
            </a:avLst>
          </a:prstGeom>
          <a:solidFill>
            <a:srgbClr val="899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hlinkClick r:id="rId4" action="ppaction://hlinksldjump"/>
          </p:cNvPr>
          <p:cNvSpPr/>
          <p:nvPr/>
        </p:nvSpPr>
        <p:spPr>
          <a:xfrm>
            <a:off x="8298180" y="1426464"/>
            <a:ext cx="605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37960" y="1938528"/>
            <a:ext cx="480060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39128" y="206654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Infix → Postfix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766560" y="250545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Infix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360920" y="2450592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60920" y="2450592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B * C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823960" y="2734056"/>
            <a:ext cx="384048" cy="0"/>
          </a:xfrm>
          <a:prstGeom prst="line">
            <a:avLst/>
          </a:prstGeom>
          <a:noFill/>
          <a:ln w="19050">
            <a:solidFill>
              <a:srgbClr val="1E24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345168" y="25054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Postfix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122408" y="2450592"/>
            <a:ext cx="987552" cy="566928"/>
          </a:xfrm>
          <a:prstGeom prst="roundRect">
            <a:avLst>
              <a:gd name="adj" fmla="val 9677"/>
            </a:avLst>
          </a:prstGeom>
          <a:solidFill>
            <a:srgbClr val="DCEAEA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122408" y="2450592"/>
            <a:ext cx="987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 </a:t>
            </a:r>
            <a:r>
              <a:rPr lang="en-US" sz="130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 +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766560" y="3282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Stack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66560" y="3648456"/>
            <a:ext cx="868680" cy="384048"/>
          </a:xfrm>
          <a:prstGeom prst="rect">
            <a:avLst/>
          </a:prstGeom>
          <a:solidFill>
            <a:srgbClr val="E7EEF5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766560" y="364845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766560" y="4105656"/>
            <a:ext cx="868680" cy="384048"/>
          </a:xfrm>
          <a:prstGeom prst="rect">
            <a:avLst/>
          </a:prstGeom>
          <a:solidFill>
            <a:srgbClr val="E7EEF5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766560" y="410565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9" name="Shape 36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41" name="Shape 38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976884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9768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Improvements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now looks cleaner during resize and maximize.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scale with the window size.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headings are centered above buttons.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text is larger and easier to read.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IMPROVEMENTS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1101090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11010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48778" y="1426464"/>
            <a:ext cx="853059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48778" y="1426464"/>
            <a:ext cx="8530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711565" y="1426464"/>
            <a:ext cx="1101090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11565" y="1426464"/>
            <a:ext cx="11010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Text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922383" y="1426464"/>
            <a:ext cx="1183767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922383" y="1426464"/>
            <a:ext cx="11837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Colors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537960" y="1938528"/>
            <a:ext cx="480060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39128" y="206654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Topic Menu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766560" y="2441448"/>
            <a:ext cx="2089404" cy="777240"/>
          </a:xfrm>
          <a:prstGeom prst="roundRect">
            <a:avLst>
              <a:gd name="adj" fmla="val 10588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766560" y="2441448"/>
            <a:ext cx="20894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20556" y="2441448"/>
            <a:ext cx="2089404" cy="777240"/>
          </a:xfrm>
          <a:prstGeom prst="roundRect">
            <a:avLst>
              <a:gd name="adj" fmla="val 10588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020556" y="2441448"/>
            <a:ext cx="20894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766560" y="3364992"/>
            <a:ext cx="2089404" cy="777240"/>
          </a:xfrm>
          <a:prstGeom prst="roundRect">
            <a:avLst>
              <a:gd name="adj" fmla="val 10588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766560" y="3364992"/>
            <a:ext cx="20894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Text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9020556" y="3364992"/>
            <a:ext cx="2089404" cy="777240"/>
          </a:xfrm>
          <a:prstGeom prst="roundRect">
            <a:avLst>
              <a:gd name="adj" fmla="val 10588"/>
            </a:avLst>
          </a:prstGeom>
          <a:solidFill>
            <a:srgbClr val="5FA8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020556" y="3364992"/>
            <a:ext cx="20894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Colors</a:t>
            </a:r>
            <a:endParaRPr lang="en-US" sz="1250" dirty="0"/>
          </a:p>
        </p:txBody>
      </p:sp>
      <p:sp>
        <p:nvSpPr>
          <p:cNvPr id="37" name="Shape 34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kern="0" spc="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1000" dirty="0"/>
          </a:p>
        </p:txBody>
      </p:sp>
      <p:sp>
        <p:nvSpPr>
          <p:cNvPr id="39" name="Shape 36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41" name="Shape 38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803656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803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Structure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stays simple and easy to explain.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MainMenu stores common colors and UI helpers.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visualizer stays in its own Java file.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logic remains unchanged.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STRUCTURE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1426464"/>
            <a:ext cx="935736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37960" y="1426464"/>
            <a:ext cx="935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MainMenu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83424" y="1426464"/>
            <a:ext cx="687705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83424" y="1426464"/>
            <a:ext cx="68770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80857" y="1426464"/>
            <a:ext cx="1183767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80857" y="1426464"/>
            <a:ext cx="11837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Visualizers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674352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674352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537960" y="1938528"/>
            <a:ext cx="480060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757416" y="2194560"/>
            <a:ext cx="82296" cy="82296"/>
          </a:xfrm>
          <a:prstGeom prst="roundRect">
            <a:avLst>
              <a:gd name="adj" fmla="val 22222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958584" y="213969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MainMenu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958584" y="24505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+ resize methods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757416" y="2907792"/>
            <a:ext cx="82296" cy="82296"/>
          </a:xfrm>
          <a:prstGeom prst="roundRect">
            <a:avLst>
              <a:gd name="adj" fmla="val 22222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58584" y="285292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LinkedListMenu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958584" y="316382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centered heading + buttons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757416" y="3621024"/>
            <a:ext cx="82296" cy="82296"/>
          </a:xfrm>
          <a:prstGeom prst="roundRect">
            <a:avLst>
              <a:gd name="adj" fmla="val 22222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958584" y="356616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Visualizer Files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6958584" y="387705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panel + operations</a:t>
            </a:r>
            <a:endParaRPr lang="en-US" sz="1150" dirty="0"/>
          </a:p>
        </p:txBody>
      </p:sp>
      <p:sp>
        <p:nvSpPr>
          <p:cNvPr id="37" name="Shape 34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kern="0" spc="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1000" dirty="0"/>
          </a:p>
        </p:txBody>
      </p:sp>
      <p:sp>
        <p:nvSpPr>
          <p:cNvPr id="39" name="Shape 36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41" name="Shape 38">
            <a:hlinkClick r:id="rId6" action="ppaction://hlinksldjump"/>
          </p:cNvPr>
          <p:cNvSpPr/>
          <p:nvPr/>
        </p:nvSpPr>
        <p:spPr>
          <a:xfrm>
            <a:off x="11734495" y="6455664"/>
            <a:ext cx="329184" cy="329184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>
            <a:hlinkClick r:id="rId6" action="ppaction://hlinksldjump"/>
          </p:cNvPr>
          <p:cNvSpPr/>
          <p:nvPr/>
        </p:nvSpPr>
        <p:spPr>
          <a:xfrm>
            <a:off x="11734495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02920"/>
            <a:ext cx="717042" cy="31089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6928" y="502920"/>
            <a:ext cx="71704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92024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makes data structures visual, simple, and presentation ready.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" y="2752344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 practice operations interactively.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" y="3246120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314553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can demonstrate concepts live.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" y="3739896"/>
            <a:ext cx="82296" cy="82296"/>
          </a:xfrm>
          <a:prstGeom prst="ellipse">
            <a:avLst/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363931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updated design is cleaner and more professional.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6928" y="59893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Sheheryar Ahmad  ·  Muhammad Hammad  ·  Tamjeed Ur Rehman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566928"/>
            <a:ext cx="5349240" cy="5742432"/>
          </a:xfrm>
          <a:prstGeom prst="roundRect">
            <a:avLst>
              <a:gd name="adj" fmla="val 2393"/>
            </a:avLst>
          </a:prstGeom>
          <a:solidFill>
            <a:srgbClr val="F4F7FA"/>
          </a:solidFill>
          <a:ln/>
          <a:effectLst>
            <a:outerShdw blurRad="228600" dist="76200" dir="5400000" algn="bl" rotWithShape="0">
              <a:srgbClr val="0A0F1A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91656" y="694944"/>
            <a:ext cx="5093208" cy="585216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91656" y="740664"/>
            <a:ext cx="50932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391656" y="1024128"/>
            <a:ext cx="50932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9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screen preview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3796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3796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18070" y="1426464"/>
            <a:ext cx="770382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418070" y="1426464"/>
            <a:ext cx="7703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98180" y="1426464"/>
            <a:ext cx="1183767" cy="310896"/>
          </a:xfrm>
          <a:prstGeom prst="roundRect">
            <a:avLst>
              <a:gd name="adj" fmla="val 26471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98180" y="1426464"/>
            <a:ext cx="11837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37960" y="1938528"/>
            <a:ext cx="480060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537960" y="5815584"/>
            <a:ext cx="4800600" cy="365760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65976" y="5815584"/>
            <a:ext cx="4544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log:  step completed  •  structure updated  •  result displayed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739128" y="2066544"/>
            <a:ext cx="4398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766560" y="2532888"/>
            <a:ext cx="1338072" cy="777240"/>
          </a:xfrm>
          <a:prstGeom prst="roundRect">
            <a:avLst>
              <a:gd name="adj" fmla="val 10588"/>
            </a:avLst>
          </a:prstGeom>
          <a:solidFill>
            <a:srgbClr val="4C8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766560" y="2532888"/>
            <a:ext cx="1338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269224" y="2532888"/>
            <a:ext cx="1338072" cy="777240"/>
          </a:xfrm>
          <a:prstGeom prst="roundRect">
            <a:avLst>
              <a:gd name="adj" fmla="val 10588"/>
            </a:avLst>
          </a:prstGeom>
          <a:solidFill>
            <a:srgbClr val="5B7C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269224" y="2532888"/>
            <a:ext cx="1338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771888" y="2532888"/>
            <a:ext cx="1338072" cy="777240"/>
          </a:xfrm>
          <a:prstGeom prst="roundRect">
            <a:avLst>
              <a:gd name="adj" fmla="val 10588"/>
            </a:avLst>
          </a:prstGeom>
          <a:solidFill>
            <a:srgbClr val="7C6A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771888" y="2532888"/>
            <a:ext cx="1338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lang="en-US" sz="1250" dirty="0"/>
          </a:p>
        </p:txBody>
      </p:sp>
      <p:sp>
        <p:nvSpPr>
          <p:cNvPr id="34" name="Shape 31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>
            <a:hlinkClick r:id="rId4" action="ppaction://hlinksldjump"/>
          </p:cNvPr>
          <p:cNvSpPr/>
          <p:nvPr/>
        </p:nvSpPr>
        <p:spPr>
          <a:xfrm>
            <a:off x="10820095" y="146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u="sng" kern="0" spc="100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1000" dirty="0"/>
          </a:p>
        </p:txBody>
      </p:sp>
      <p:sp>
        <p:nvSpPr>
          <p:cNvPr id="36" name="Shape 33">
            <a:hlinkClick r:id="rId5" action="ppaction://hlinksldjump"/>
          </p:cNvPr>
          <p:cNvSpPr/>
          <p:nvPr/>
        </p:nvSpPr>
        <p:spPr>
          <a:xfrm>
            <a:off x="11332159" y="6455664"/>
            <a:ext cx="329184" cy="329184"/>
          </a:xfrm>
          <a:prstGeom prst="ellipse">
            <a:avLst/>
          </a:prstGeom>
          <a:solidFill>
            <a:srgbClr val="1B2436"/>
          </a:solidFill>
          <a:ln w="12700">
            <a:solidFill>
              <a:srgbClr val="3A4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>
            <a:hlinkClick r:id="rId5" action="ppaction://hlinksldjump"/>
          </p:cNvPr>
          <p:cNvSpPr/>
          <p:nvPr/>
        </p:nvSpPr>
        <p:spPr>
          <a:xfrm>
            <a:off x="11332159" y="6437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E7ECF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66928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1236</Words>
  <Application>Microsoft Office PowerPoint</Application>
  <PresentationFormat>Widescreen</PresentationFormat>
  <Paragraphs>436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FA24-BSE-002(Sheheryar Ahmad)</cp:lastModifiedBy>
  <cp:revision>2</cp:revision>
  <dcterms:created xsi:type="dcterms:W3CDTF">2026-07-18T20:31:13Z</dcterms:created>
  <dcterms:modified xsi:type="dcterms:W3CDTF">2026-07-18T20:56:52Z</dcterms:modified>
</cp:coreProperties>
</file>